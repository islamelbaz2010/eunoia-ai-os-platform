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0" y="731520"/>
            <a:ext cx="7315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</a:t>
            </a:r>
            <a:endParaRPr lang="en-US" sz="13000" dirty="0"/>
          </a:p>
        </p:txBody>
      </p:sp>
      <p:sp>
        <p:nvSpPr>
          <p:cNvPr id="4" name="Shape 2"/>
          <p:cNvSpPr/>
          <p:nvPr/>
        </p:nvSpPr>
        <p:spPr>
          <a:xfrm>
            <a:off x="548640" y="2377440"/>
            <a:ext cx="4572000" cy="457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54864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فرصة استثمارية استثنائية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2514600"/>
            <a:ext cx="640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تسويق مشروعات العاصمة الإدارية الجديدة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للجاليات المصرية في السعودية — قطر — عُمان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457200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Eunoia Zones Agency  ·  الوكالة الذكية للتسويق العقاري في الخليج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397764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181C25"/>
          </a:solidFill>
          <a:ln w="12700">
            <a:solidFill>
              <a:srgbClr val="D4A017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39776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🇸🇦  السعودية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926080" y="397764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181C25"/>
          </a:solidFill>
          <a:ln w="12700">
            <a:solidFill>
              <a:srgbClr val="00D4B4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926080" y="39776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🇶🇦  قطر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303520" y="397764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181C25"/>
          </a:solidFill>
          <a:ln w="12700">
            <a:solidFill>
              <a:srgbClr val="E63946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303520" y="39776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🇴🇲  عُمان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BB0"/>
                </a:solidFill>
              </a:rPr>
              <a:t>1 / 14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09728"/>
            <a:ext cx="2194560" cy="292608"/>
          </a:xfrm>
          <a:prstGeom prst="roundRect">
            <a:avLst>
              <a:gd name="adj" fmla="val 25000"/>
            </a:avLst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972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A0A"/>
                </a:solidFill>
              </a:rPr>
              <a:t>EXECUTIVE SUMMARY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004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لماذا الآن؟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228600" y="1280160"/>
            <a:ext cx="2011680" cy="1645920"/>
          </a:xfrm>
          <a:prstGeom prst="roundRect">
            <a:avLst>
              <a:gd name="adj" fmla="val 6667"/>
            </a:avLst>
          </a:prstGeom>
          <a:solidFill>
            <a:srgbClr val="181C25"/>
          </a:solidFill>
          <a:ln w="12700">
            <a:solidFill>
              <a:srgbClr val="D4A017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28600" y="132588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4A0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5.5M+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228600" y="2148840"/>
            <a:ext cx="2011680" cy="64008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مصري في الخليج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404872" y="1280160"/>
            <a:ext cx="2011680" cy="1645920"/>
          </a:xfrm>
          <a:prstGeom prst="roundRect">
            <a:avLst>
              <a:gd name="adj" fmla="val 6667"/>
            </a:avLst>
          </a:prstGeom>
          <a:solidFill>
            <a:srgbClr val="181C25"/>
          </a:solidFill>
          <a:ln w="12700">
            <a:solidFill>
              <a:srgbClr val="00D4B4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404872" y="132588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D4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40%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2404872" y="2148840"/>
            <a:ext cx="2011680" cy="64008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نمو مبيعات خارج مصر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81144" y="1280160"/>
            <a:ext cx="2011680" cy="1645920"/>
          </a:xfrm>
          <a:prstGeom prst="roundRect">
            <a:avLst>
              <a:gd name="adj" fmla="val 6667"/>
            </a:avLst>
          </a:prstGeom>
          <a:solidFill>
            <a:srgbClr val="181C25"/>
          </a:solidFill>
          <a:ln w="12700">
            <a:solidFill>
              <a:srgbClr val="E63946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81144" y="132588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دول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4581144" y="2148840"/>
            <a:ext cx="2011680" cy="64008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فرص متزامنة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757416" y="1280160"/>
            <a:ext cx="2011680" cy="1645920"/>
          </a:xfrm>
          <a:prstGeom prst="roundRect">
            <a:avLst>
              <a:gd name="adj" fmla="val 6667"/>
            </a:avLst>
          </a:prstGeom>
          <a:solidFill>
            <a:srgbClr val="181C25"/>
          </a:solidFill>
          <a:ln w="12700">
            <a:solidFill>
              <a:srgbClr val="F5C842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757416" y="132588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C8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$29B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6757416" y="2148840"/>
            <a:ext cx="2011680" cy="64008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صفقات Cityscape KSA 2023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20040" y="3154680"/>
            <a:ext cx="8503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الجاليات المصرية في السعودية وقطر وعُمان تمثل شريحة ضخمة من المستثمرين المحتملين في مشروعات العاصمة الإدارية.</a:t>
            </a:r>
            <a:endParaRPr lang="en-US" sz="1400" dirty="0"/>
          </a:p>
          <a:p>
            <a:pPr algn="r" indent="0" marL="0">
              <a:buNone/>
            </a:pPr>
            <a:r>
              <a:rPr lang="en-US" sz="14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التوقيت مثالي: قوانين تملك أجانب جديدة، طفرة عقارية، وبنية تحتية للفعاليات قائمة.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BB0"/>
                </a:solidFill>
              </a:rPr>
              <a:t>2 / 14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09728"/>
            <a:ext cx="2194560" cy="292608"/>
          </a:xfrm>
          <a:prstGeom prst="roundRect">
            <a:avLst>
              <a:gd name="adj" fmla="val 25000"/>
            </a:avLst>
          </a:prstGeom>
          <a:solidFill>
            <a:srgbClr val="00D4B4"/>
          </a:solidFill>
          <a:ln w="12700">
            <a:solidFill>
              <a:srgbClr val="00D4B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972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A0A"/>
                </a:solidFill>
              </a:rPr>
              <a:t>MARKET OPPORTUNITY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004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حجم السوق المستهدف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228600" y="1234440"/>
            <a:ext cx="2743200" cy="3566160"/>
          </a:xfrm>
          <a:prstGeom prst="roundRect">
            <a:avLst>
              <a:gd name="adj" fmla="val 4667"/>
            </a:avLst>
          </a:prstGeom>
          <a:solidFill>
            <a:srgbClr val="181C25"/>
          </a:solidFill>
          <a:ln w="12700">
            <a:solidFill>
              <a:srgbClr val="D4A017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28600" y="1234440"/>
            <a:ext cx="2743200" cy="566928"/>
          </a:xfrm>
          <a:prstGeom prst="roundRect">
            <a:avLst>
              <a:gd name="adj" fmla="val 22581"/>
            </a:avLst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261872"/>
            <a:ext cx="2560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🇸🇦 السعودية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20040" y="190195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 مليون مصري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93192" y="2377440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الرياض وجدة — السوق الأضخم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93192" y="2871216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Hazi Misr: 30+ نسخة ناجحة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93192" y="3364992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قانون تملك أجانب يناير 2026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93192" y="3858768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Nile Property Expo يونيو 2026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182112" y="1234440"/>
            <a:ext cx="2743200" cy="3566160"/>
          </a:xfrm>
          <a:prstGeom prst="roundRect">
            <a:avLst>
              <a:gd name="adj" fmla="val 4667"/>
            </a:avLst>
          </a:prstGeom>
          <a:solidFill>
            <a:srgbClr val="181C25"/>
          </a:solidFill>
          <a:ln w="12700">
            <a:solidFill>
              <a:srgbClr val="00D4B4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182112" y="1234440"/>
            <a:ext cx="2743200" cy="566928"/>
          </a:xfrm>
          <a:prstGeom prst="roundRect">
            <a:avLst>
              <a:gd name="adj" fmla="val 22581"/>
            </a:avLst>
          </a:prstGeom>
          <a:solidFill>
            <a:srgbClr val="00D4B4"/>
          </a:solidFill>
          <a:ln w="12700">
            <a:solidFill>
              <a:srgbClr val="00D4B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73552" y="1261872"/>
            <a:ext cx="2560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🇶🇦 قطر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273552" y="190195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~500,000 مصري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346704" y="2377440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دوحة — مهنيون وأطباء ومهندسون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346704" y="2871216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Cityscape Qatar أكتوبر سنوياً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346704" y="3364992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NPE بدأت جولة 2026 من الدوحة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346704" y="3858768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إطار تنظيمي محدث 2024-2025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135624" y="1234440"/>
            <a:ext cx="2743200" cy="3566160"/>
          </a:xfrm>
          <a:prstGeom prst="roundRect">
            <a:avLst>
              <a:gd name="adj" fmla="val 4667"/>
            </a:avLst>
          </a:prstGeom>
          <a:solidFill>
            <a:srgbClr val="181C25"/>
          </a:solidFill>
          <a:ln w="12700">
            <a:solidFill>
              <a:srgbClr val="E63946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135624" y="1234440"/>
            <a:ext cx="2743200" cy="566928"/>
          </a:xfrm>
          <a:prstGeom prst="roundRect">
            <a:avLst>
              <a:gd name="adj" fmla="val 22581"/>
            </a:avLst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27064" y="1261872"/>
            <a:ext cx="2560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🇴🇲 عُمان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227064" y="190195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~300,000 مصري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300216" y="2377440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مسقط — كوادر طبية وتقنية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300216" y="2871216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OREX — ماي 2026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300216" y="3364992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قانون عقاري جديد مرسوم 79/2025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300216" y="3858768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نمو متسارع في الطلب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BB0"/>
                </a:solidFill>
              </a:rPr>
              <a:t>3 / 14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09728"/>
            <a:ext cx="2194560" cy="292608"/>
          </a:xfrm>
          <a:prstGeom prst="roundRect">
            <a:avLst>
              <a:gd name="adj" fmla="val 25000"/>
            </a:avLst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972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A0A"/>
                </a:solidFill>
              </a:rPr>
              <a:t>PROVEN MODELS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004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النماذج الناجحة — المرجع العملي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274320" y="1325880"/>
            <a:ext cx="4114800" cy="1554480"/>
          </a:xfrm>
          <a:prstGeom prst="roundRect">
            <a:avLst>
              <a:gd name="adj" fmla="val 7059"/>
            </a:avLst>
          </a:prstGeom>
          <a:solidFill>
            <a:srgbClr val="181C25"/>
          </a:solidFill>
          <a:ln w="12700">
            <a:solidFill>
              <a:srgbClr val="D4A017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1435608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D4A0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Hazi Misr Prime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1929384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سنة — 30+ نسخة</a:t>
            </a:r>
            <a:endParaRPr lang="en-US" sz="1200" dirty="0"/>
          </a:p>
          <a:p>
            <a:pPr algn="r" indent="0" marL="0">
              <a:buNone/>
            </a:pPr>
            <a:r>
              <a:rPr lang="en-US" sz="12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الرياض، جدة، الدوحة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1325880"/>
            <a:ext cx="4114800" cy="1554480"/>
          </a:xfrm>
          <a:prstGeom prst="roundRect">
            <a:avLst>
              <a:gd name="adj" fmla="val 7059"/>
            </a:avLst>
          </a:prstGeom>
          <a:solidFill>
            <a:srgbClr val="181C25"/>
          </a:solidFill>
          <a:ln w="12700">
            <a:solidFill>
              <a:srgbClr val="00D4B4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0" y="1435608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0D4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Nile Property Expo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846320" y="1929384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رعاية رئيس الوزراء المصري</a:t>
            </a:r>
            <a:endParaRPr lang="en-US" sz="1200" dirty="0"/>
          </a:p>
          <a:p>
            <a:pPr algn="r" indent="0" marL="0">
              <a:buNone/>
            </a:pPr>
            <a:r>
              <a:rPr lang="en-US" sz="12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2026: قطر، رياض، جدة، دبي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3108960"/>
            <a:ext cx="4114800" cy="1554480"/>
          </a:xfrm>
          <a:prstGeom prst="roundRect">
            <a:avLst>
              <a:gd name="adj" fmla="val 7059"/>
            </a:avLst>
          </a:prstGeom>
          <a:solidFill>
            <a:srgbClr val="181C25"/>
          </a:solidFill>
          <a:ln w="12700">
            <a:solidFill>
              <a:srgbClr val="E63946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7200" y="3218688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Egypt Builders Expo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7200" y="3712464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أبوظبي أكتوبر 2025</a:t>
            </a:r>
            <a:endParaRPr lang="en-US" sz="1200" dirty="0"/>
          </a:p>
          <a:p>
            <a:pPr algn="r" indent="0" marL="0">
              <a:buNone/>
            </a:pPr>
            <a:r>
              <a:rPr lang="en-US" sz="12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افتتاح السفير المصري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63440" y="3108960"/>
            <a:ext cx="4114800" cy="1554480"/>
          </a:xfrm>
          <a:prstGeom prst="roundRect">
            <a:avLst>
              <a:gd name="adj" fmla="val 7059"/>
            </a:avLst>
          </a:prstGeom>
          <a:solidFill>
            <a:srgbClr val="181C25"/>
          </a:solidFill>
          <a:ln w="12700">
            <a:solidFill>
              <a:srgbClr val="F5C842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0" y="3218688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5C8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Saudi-Egypt RE Conference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846320" y="3712464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الرياض 2023</a:t>
            </a:r>
            <a:endParaRPr lang="en-US" sz="1200" dirty="0"/>
          </a:p>
          <a:p>
            <a:pPr algn="r" indent="0" marL="0">
              <a:buNone/>
            </a:pPr>
            <a:r>
              <a:rPr lang="en-US" sz="12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وزارة الإسكان السعودية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20040" y="466344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هذه النماذج تُثبت أن السوق جاهز وقائم — الدخول كشريك أو عارض يختصر 80% من التعقيد القانوني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BB0"/>
                </a:solidFill>
              </a:rPr>
              <a:t>4 / 14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09728"/>
            <a:ext cx="2194560" cy="292608"/>
          </a:xfrm>
          <a:prstGeom prst="roundRect">
            <a:avLst>
              <a:gd name="adj" fmla="val 25000"/>
            </a:avLst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972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A0A"/>
                </a:solidFill>
              </a:rPr>
              <a:t>🇸🇦  SAUDI ARABIA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0040" y="50292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المملكة العربية السعودية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858000" y="5029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الأولوية رقم 1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4320" y="1234440"/>
            <a:ext cx="4114800" cy="3474720"/>
          </a:xfrm>
          <a:prstGeom prst="roundRect">
            <a:avLst>
              <a:gd name="adj" fmla="val 3158"/>
            </a:avLst>
          </a:prstGeom>
          <a:solidFill>
            <a:srgbClr val="181C25"/>
          </a:solidFill>
          <a:ln w="12700">
            <a:solidFill>
              <a:srgbClr val="D4A017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1325880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D4A0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⚖️  التحديثات القانونية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182880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قانون تملك غير السعوديين — يوليو 2025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228600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دخل حيز التنفيذ يناير 2026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274320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منصة Saudi Properties الرسمية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320040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هيئة العقار REGA — الجهة التنظيمية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365760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رخصة فال للنشاط العقاري مطلوبة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411480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إعلانات عقارية تحتاج ترخيص REGA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63440" y="1234440"/>
            <a:ext cx="4206240" cy="3474720"/>
          </a:xfrm>
          <a:prstGeom prst="roundRect">
            <a:avLst>
              <a:gd name="adj" fmla="val 3158"/>
            </a:avLst>
          </a:prstGeom>
          <a:solidFill>
            <a:srgbClr val="181C25"/>
          </a:solidFill>
          <a:ln w="12700">
            <a:solidFill>
              <a:srgbClr val="00D4B4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0" y="1325880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0D4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🚀  استراتيجية التنفيذ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846320" y="182880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انضم لـ Hazi Misr أو Nile Property Expo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46320" y="228600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فعالية خاصة في فندق 5 نجوم — يومان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46320" y="274320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دعوة مغلقة عبر السفارة + اتحاد رجال الأعمال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46320" y="320040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شريك محلي مرخص للشرعية القانونية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46320" y="365760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لا توقيع عقود ملزمة داخل المملكة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46320" y="411480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التعاقد عبر الإنترنت أو في مصر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BB0"/>
                </a:solidFill>
              </a:rPr>
              <a:t>5 / 14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09728"/>
            <a:ext cx="2194560" cy="292608"/>
          </a:xfrm>
          <a:prstGeom prst="roundRect">
            <a:avLst>
              <a:gd name="adj" fmla="val 25000"/>
            </a:avLst>
          </a:prstGeom>
          <a:solidFill>
            <a:srgbClr val="00D4B4"/>
          </a:solidFill>
          <a:ln w="12700">
            <a:solidFill>
              <a:srgbClr val="00D4B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972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A0A"/>
                </a:solidFill>
              </a:rPr>
              <a:t>🇶🇦  QATAR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004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قطر — السوق الثاني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274320" y="1234440"/>
            <a:ext cx="4114800" cy="3474720"/>
          </a:xfrm>
          <a:prstGeom prst="roundRect">
            <a:avLst>
              <a:gd name="adj" fmla="val 3158"/>
            </a:avLst>
          </a:prstGeom>
          <a:solidFill>
            <a:srgbClr val="181C25"/>
          </a:solidFill>
          <a:ln w="12700">
            <a:solidFill>
              <a:srgbClr val="00D4B4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1325880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0D4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⚖️  الإطار القانوني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182880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هيئة Aqarat — تنظيم السوق العقاري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28600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إطار تنظيمي جديد سبتمبر 2024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274320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19 مطوراً مرخصاً لمناطق خاصة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20040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منصة SAK الرقمية للمعاملات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365760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القانون رقم 16/2018 وتعديلات 2025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411480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تصريح فعالية من وزارة الداخلية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63440" y="1234440"/>
            <a:ext cx="4206240" cy="3474720"/>
          </a:xfrm>
          <a:prstGeom prst="roundRect">
            <a:avLst>
              <a:gd name="adj" fmla="val 3158"/>
            </a:avLst>
          </a:prstGeom>
          <a:solidFill>
            <a:srgbClr val="181C25"/>
          </a:solidFill>
          <a:ln w="12700">
            <a:solidFill>
              <a:srgbClr val="D4A017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846320" y="1325880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D4A0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🎯  الجالية والفرصة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846320" y="182880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~500,000 مصري — أطباء ومهندسون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46320" y="228600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قدرة شرائية عالية ورغبة في الاستثمار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46320" y="274320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Nile Property Expo دوحة — فبراير 2026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46320" y="320040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Cityscape Qatar أكتوبر سنوياً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46320" y="365760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انضم كعارض بدلاً من تنظيم مستقل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46320" y="411480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شريك قطري محلي ضرورة قانونية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BB0"/>
                </a:solidFill>
              </a:rPr>
              <a:t>6 / 14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09728"/>
            <a:ext cx="2194560" cy="292608"/>
          </a:xfrm>
          <a:prstGeom prst="roundRect">
            <a:avLst>
              <a:gd name="adj" fmla="val 25000"/>
            </a:avLst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972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🇴🇲  OMAN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004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سلطنة عُمان — المرحلة 3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274320" y="1234440"/>
            <a:ext cx="4114800" cy="3474720"/>
          </a:xfrm>
          <a:prstGeom prst="roundRect">
            <a:avLst>
              <a:gd name="adj" fmla="val 3158"/>
            </a:avLst>
          </a:prstGeom>
          <a:solidFill>
            <a:srgbClr val="181C25"/>
          </a:solidFill>
          <a:ln w="12700">
            <a:solidFill>
              <a:srgbClr val="E63946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1325880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📋  التشريعات الجديدة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182880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مرسوم ملكي 79/2025 — قانون عقارات شامل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28600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يُلغي قانون الوساطة القديم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274320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حق تملك أجانب في المجمعات السياحية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20040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The Wave, Muscat Bay, Jebel Sifah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365760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إقامة 10 سنوات بتملك فوق 200,000 OMR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411480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تصريح فعالية عبر وزارة التجارة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63440" y="1234440"/>
            <a:ext cx="4206240" cy="3474720"/>
          </a:xfrm>
          <a:prstGeom prst="roundRect">
            <a:avLst>
              <a:gd name="adj" fmla="val 3158"/>
            </a:avLst>
          </a:prstGeom>
          <a:solidFill>
            <a:srgbClr val="181C25"/>
          </a:solidFill>
          <a:ln w="12700">
            <a:solidFill>
              <a:srgbClr val="00D4B4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846320" y="1325880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0D4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📅  الفعاليات القائمة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846320" y="182880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OREX — ماي 2026 — مركز عُمان للمعارض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46320" y="228600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299 عارض ، 10,800 زائر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46320" y="274320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Oman Design &amp; Build Week — أبريل 2027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46320" y="320040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22nd edition — أوسع نطاقاً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46320" y="365760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النموذج الأنسب: الانضمام كعارض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46320" y="411480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تجنب تنظيم فعالية مستقلة في المرحلة الأولى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BB0"/>
                </a:solidFill>
              </a:rPr>
              <a:t>7 / 14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09728"/>
            <a:ext cx="2194560" cy="292608"/>
          </a:xfrm>
          <a:prstGeom prst="roundRect">
            <a:avLst>
              <a:gd name="adj" fmla="val 25000"/>
            </a:avLst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972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A0A"/>
                </a:solidFill>
              </a:rPr>
              <a:t>EMBASSY STRATEGY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004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دور السفارة المصرية — محور الشرعية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274320" y="1234440"/>
            <a:ext cx="4206240" cy="3291840"/>
          </a:xfrm>
          <a:prstGeom prst="roundRect">
            <a:avLst>
              <a:gd name="adj" fmla="val 3333"/>
            </a:avLst>
          </a:prstGeom>
          <a:solidFill>
            <a:srgbClr val="181C25"/>
          </a:solidFill>
          <a:ln w="12700">
            <a:solidFill>
              <a:srgbClr val="D4A017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1325880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D4A0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✅  ما تطلبه من السفارة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1847088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خطاب دعم رسمي للحدث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350008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إرسال دعوات لقوائم الجالية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2852928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حضور ممثل دبلوماسي للافتتاح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3355848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تسهيل التواصل مع اتحادات الأعمال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3858768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اسم السفارة راعٍ شرفي للحدث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63440" y="1234440"/>
            <a:ext cx="4206240" cy="3291840"/>
          </a:xfrm>
          <a:prstGeom prst="roundRect">
            <a:avLst>
              <a:gd name="adj" fmla="val 3333"/>
            </a:avLst>
          </a:prstGeom>
          <a:solidFill>
            <a:srgbClr val="181C25"/>
          </a:solidFill>
          <a:ln w="12700">
            <a:solidFill>
              <a:srgbClr val="E63946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46320" y="1325880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❌  ما لا تطلبه أبداً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846320" y="1847088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لا تطلب الترويج لمشروع بعينه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46320" y="2350008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لا تطلب تمويلاً أو ميزانية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46320" y="2852928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لا تجعلها ركيزة البيع الأساسية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46320" y="3355848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لا تُصوّرها كضامن للمشروع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46320" y="3858768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لا تربط سمعتها بمواعيد التسليم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20040" y="466344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مرجع: سفير مصر في أبوظبي افتتح Egypt Builders Expo أكتوبر 2025 رسمياً — النموذج مُثبت وقابل للتكرار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BB0"/>
                </a:solidFill>
              </a:rPr>
              <a:t>8 / 14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09728"/>
            <a:ext cx="2194560" cy="292608"/>
          </a:xfrm>
          <a:prstGeom prst="roundRect">
            <a:avLst>
              <a:gd name="adj" fmla="val 25000"/>
            </a:avLst>
          </a:prstGeom>
          <a:solidFill>
            <a:srgbClr val="00D4B4"/>
          </a:solidFill>
          <a:ln w="12700">
            <a:solidFill>
              <a:srgbClr val="00D4B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972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A0A"/>
                </a:solidFill>
              </a:rPr>
              <a:t>EXECUTION ROADMAP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004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خارطة طريق التنفيذ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164592" y="1261872"/>
            <a:ext cx="2057400" cy="3566160"/>
          </a:xfrm>
          <a:prstGeom prst="roundRect">
            <a:avLst>
              <a:gd name="adj" fmla="val 5333"/>
            </a:avLst>
          </a:prstGeom>
          <a:solidFill>
            <a:srgbClr val="181C25"/>
          </a:solidFill>
          <a:ln w="12700">
            <a:solidFill>
              <a:srgbClr val="D4A017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64592" y="1261872"/>
            <a:ext cx="2057400" cy="502920"/>
          </a:xfrm>
          <a:prstGeom prst="roundRect">
            <a:avLst>
              <a:gd name="adj" fmla="val 21818"/>
            </a:avLst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9456" y="128016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المرحلة 1  ·  الأسابيع 1-8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19456" y="1865376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A0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التأسيس القانوني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56032" y="2395728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توكيل محامٍ محلي بكل دولة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56032" y="2944368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تواصل رسمي مع السفارات الثلاث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56032" y="3493008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التفاوض مع Hazi Misr / NPE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56032" y="4041648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مراجعة كل المواد التسويقية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386584" y="1261872"/>
            <a:ext cx="2057400" cy="3566160"/>
          </a:xfrm>
          <a:prstGeom prst="roundRect">
            <a:avLst>
              <a:gd name="adj" fmla="val 5333"/>
            </a:avLst>
          </a:prstGeom>
          <a:solidFill>
            <a:srgbClr val="181C25"/>
          </a:solidFill>
          <a:ln w="12700">
            <a:solidFill>
              <a:srgbClr val="00D4B4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386584" y="1261872"/>
            <a:ext cx="2057400" cy="502920"/>
          </a:xfrm>
          <a:prstGeom prst="roundRect">
            <a:avLst>
              <a:gd name="adj" fmla="val 21818"/>
            </a:avLst>
          </a:prstGeom>
          <a:solidFill>
            <a:srgbClr val="00D4B4"/>
          </a:solidFill>
          <a:ln w="12700">
            <a:solidFill>
              <a:srgbClr val="00D4B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441448" y="128016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المرحلة 2  ·  الأسابيع 9-16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441448" y="1865376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D4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الإطلاق — السعودية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478024" y="2395728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فعالية رياض أو جدة — يومان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478024" y="2944368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دعوة مغلقة 200-500 شخص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478024" y="3493008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الشركة: راعي رئيسي + عروض تقديمية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478024" y="4041648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التعاقد عبر الإنترنت / مصر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08576" y="1261872"/>
            <a:ext cx="2057400" cy="3566160"/>
          </a:xfrm>
          <a:prstGeom prst="roundRect">
            <a:avLst>
              <a:gd name="adj" fmla="val 5333"/>
            </a:avLst>
          </a:prstGeom>
          <a:solidFill>
            <a:srgbClr val="181C25"/>
          </a:solidFill>
          <a:ln w="12700">
            <a:solidFill>
              <a:srgbClr val="E63946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08576" y="1261872"/>
            <a:ext cx="2057400" cy="502920"/>
          </a:xfrm>
          <a:prstGeom prst="roundRect">
            <a:avLst>
              <a:gd name="adj" fmla="val 21818"/>
            </a:avLst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128016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المرحلة 3  ·  الأسابيع 16-24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663440" y="1865376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التوسع — قطر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700016" y="2395728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Nile Property Expo دوحة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700016" y="2944368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أو فعالية مستقلة في فندق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700016" y="3493008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استهداف المهنيين المصريين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700016" y="4041648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بناء قاعدة عملاء قطر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830568" y="1261872"/>
            <a:ext cx="2057400" cy="3566160"/>
          </a:xfrm>
          <a:prstGeom prst="roundRect">
            <a:avLst>
              <a:gd name="adj" fmla="val 5333"/>
            </a:avLst>
          </a:prstGeom>
          <a:solidFill>
            <a:srgbClr val="181C25"/>
          </a:solidFill>
          <a:ln w="12700">
            <a:solidFill>
              <a:srgbClr val="F5C842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3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830568" y="1261872"/>
            <a:ext cx="2057400" cy="502920"/>
          </a:xfrm>
          <a:prstGeom prst="roundRect">
            <a:avLst>
              <a:gd name="adj" fmla="val 21818"/>
            </a:avLst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85432" y="128016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المرحلة 4  ·  الأسابيع 24+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885432" y="1865376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C8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عُمان — المرحلة النهائية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922008" y="2395728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OREX ماي 2026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922008" y="2944368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انضمام كعارض أساسي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922008" y="3493008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تقييم النتائج والتعديل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922008" y="4041648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خطة مبيعات سنوية ثلاث دول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BB0"/>
                </a:solidFill>
              </a:rPr>
              <a:t>9 / 14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09728"/>
            <a:ext cx="2194560" cy="292608"/>
          </a:xfrm>
          <a:prstGeom prst="roundRect">
            <a:avLst>
              <a:gd name="adj" fmla="val 25000"/>
            </a:avLst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972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RISK MANAGEMENT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004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مصفوفة المخاطر والحلول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274320" y="1234440"/>
            <a:ext cx="2377440" cy="38404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2344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الخطر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0" y="1234440"/>
            <a:ext cx="1828800" cy="38404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0" y="123444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الاحتمالية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0" y="1234440"/>
            <a:ext cx="1097280" cy="38404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123444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التأثير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852160" y="1234440"/>
            <a:ext cx="3017520" cy="38404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52160" y="123444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الحل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74320" y="1664208"/>
            <a:ext cx="2377440" cy="475488"/>
          </a:xfrm>
          <a:prstGeom prst="rect">
            <a:avLst/>
          </a:prstGeom>
          <a:solidFill>
            <a:srgbClr val="181C25"/>
          </a:solidFill>
          <a:ln w="12700">
            <a:solidFill>
              <a:srgbClr val="20283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0" y="1664208"/>
            <a:ext cx="1828800" cy="475488"/>
          </a:xfrm>
          <a:prstGeom prst="rect">
            <a:avLst/>
          </a:prstGeom>
          <a:solidFill>
            <a:srgbClr val="181C25"/>
          </a:solidFill>
          <a:ln w="12700">
            <a:solidFill>
              <a:srgbClr val="20283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63440" y="1664208"/>
            <a:ext cx="1097280" cy="475488"/>
          </a:xfrm>
          <a:prstGeom prst="rect">
            <a:avLst/>
          </a:prstGeom>
          <a:solidFill>
            <a:srgbClr val="181C25"/>
          </a:solidFill>
          <a:ln w="12700">
            <a:solidFill>
              <a:srgbClr val="20283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852160" y="1664208"/>
            <a:ext cx="3017520" cy="475488"/>
          </a:xfrm>
          <a:prstGeom prst="rect">
            <a:avLst/>
          </a:prstGeom>
          <a:solidFill>
            <a:srgbClr val="181C25"/>
          </a:solidFill>
          <a:ln w="12700">
            <a:solidFill>
              <a:srgbClr val="20283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1664208"/>
            <a:ext cx="2377440" cy="47548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رفض تصريح الفعالية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743200" y="1664208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D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منخفضة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663440" y="1664208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عالٍ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852160" y="1664208"/>
            <a:ext cx="3017520" cy="47548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شريك محلي مُرخّص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4320" y="2176272"/>
            <a:ext cx="2377440" cy="475488"/>
          </a:xfrm>
          <a:prstGeom prst="rect">
            <a:avLst/>
          </a:prstGeom>
          <a:solidFill>
            <a:srgbClr val="131820"/>
          </a:solidFill>
          <a:ln w="12700">
            <a:solidFill>
              <a:srgbClr val="20283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43200" y="2176272"/>
            <a:ext cx="1828800" cy="475488"/>
          </a:xfrm>
          <a:prstGeom prst="rect">
            <a:avLst/>
          </a:prstGeom>
          <a:solidFill>
            <a:srgbClr val="131820"/>
          </a:solidFill>
          <a:ln w="12700">
            <a:solidFill>
              <a:srgbClr val="20283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63440" y="2176272"/>
            <a:ext cx="1097280" cy="475488"/>
          </a:xfrm>
          <a:prstGeom prst="rect">
            <a:avLst/>
          </a:prstGeom>
          <a:solidFill>
            <a:srgbClr val="131820"/>
          </a:solidFill>
          <a:ln w="12700">
            <a:solidFill>
              <a:srgbClr val="20283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852160" y="2176272"/>
            <a:ext cx="3017520" cy="475488"/>
          </a:xfrm>
          <a:prstGeom prst="rect">
            <a:avLst/>
          </a:prstGeom>
          <a:solidFill>
            <a:srgbClr val="131820"/>
          </a:solidFill>
          <a:ln w="12700">
            <a:solidFill>
              <a:srgbClr val="20283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2176272"/>
            <a:ext cx="2377440" cy="47548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منع المواد الإعلانية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743200" y="2176272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متوسطة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663440" y="217627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متوسط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852160" y="2176272"/>
            <a:ext cx="3017520" cy="47548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مراجعة قانونية مسبقة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74320" y="2688336"/>
            <a:ext cx="2377440" cy="475488"/>
          </a:xfrm>
          <a:prstGeom prst="rect">
            <a:avLst/>
          </a:prstGeom>
          <a:solidFill>
            <a:srgbClr val="181C25"/>
          </a:solidFill>
          <a:ln w="12700">
            <a:solidFill>
              <a:srgbClr val="20283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743200" y="2688336"/>
            <a:ext cx="1828800" cy="475488"/>
          </a:xfrm>
          <a:prstGeom prst="rect">
            <a:avLst/>
          </a:prstGeom>
          <a:solidFill>
            <a:srgbClr val="181C25"/>
          </a:solidFill>
          <a:ln w="12700">
            <a:solidFill>
              <a:srgbClr val="20283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663440" y="2688336"/>
            <a:ext cx="1097280" cy="475488"/>
          </a:xfrm>
          <a:prstGeom prst="rect">
            <a:avLst/>
          </a:prstGeom>
          <a:solidFill>
            <a:srgbClr val="181C25"/>
          </a:solidFill>
          <a:ln w="12700">
            <a:solidFill>
              <a:srgbClr val="20283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852160" y="2688336"/>
            <a:ext cx="3017520" cy="475488"/>
          </a:xfrm>
          <a:prstGeom prst="rect">
            <a:avLst/>
          </a:prstGeom>
          <a:solidFill>
            <a:srgbClr val="181C25"/>
          </a:solidFill>
          <a:ln w="12700">
            <a:solidFill>
              <a:srgbClr val="20283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0" y="2688336"/>
            <a:ext cx="2377440" cy="47548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ضعف الحضور — عُمان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2743200" y="2688336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متوسطة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663440" y="2688336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عالٍ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852160" y="2688336"/>
            <a:ext cx="3017520" cy="47548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اشتراط RSVP مسبق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74320" y="3200400"/>
            <a:ext cx="2377440" cy="475488"/>
          </a:xfrm>
          <a:prstGeom prst="rect">
            <a:avLst/>
          </a:prstGeom>
          <a:solidFill>
            <a:srgbClr val="131820"/>
          </a:solidFill>
          <a:ln w="12700">
            <a:solidFill>
              <a:srgbClr val="20283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0" y="3200400"/>
            <a:ext cx="1828800" cy="475488"/>
          </a:xfrm>
          <a:prstGeom prst="rect">
            <a:avLst/>
          </a:prstGeom>
          <a:solidFill>
            <a:srgbClr val="131820"/>
          </a:solidFill>
          <a:ln w="12700">
            <a:solidFill>
              <a:srgbClr val="202835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663440" y="3200400"/>
            <a:ext cx="1097280" cy="475488"/>
          </a:xfrm>
          <a:prstGeom prst="rect">
            <a:avLst/>
          </a:prstGeom>
          <a:solidFill>
            <a:srgbClr val="131820"/>
          </a:solidFill>
          <a:ln w="12700">
            <a:solidFill>
              <a:srgbClr val="202835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852160" y="3200400"/>
            <a:ext cx="3017520" cy="475488"/>
          </a:xfrm>
          <a:prstGeom prst="rect">
            <a:avLst/>
          </a:prstGeom>
          <a:solidFill>
            <a:srgbClr val="131820"/>
          </a:solidFill>
          <a:ln w="12700">
            <a:solidFill>
              <a:srgbClr val="20283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74320" y="3200400"/>
            <a:ext cx="2377440" cy="47548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نزاع قانوني على عقود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2743200" y="320040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D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منخفضة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663440" y="3200400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عالٍ جداً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852160" y="3200400"/>
            <a:ext cx="3017520" cy="47548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لا توقيع ملزم في الخارج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274320" y="3712464"/>
            <a:ext cx="2377440" cy="475488"/>
          </a:xfrm>
          <a:prstGeom prst="rect">
            <a:avLst/>
          </a:prstGeom>
          <a:solidFill>
            <a:srgbClr val="181C25"/>
          </a:solidFill>
          <a:ln w="12700">
            <a:solidFill>
              <a:srgbClr val="202835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743200" y="3712464"/>
            <a:ext cx="1828800" cy="475488"/>
          </a:xfrm>
          <a:prstGeom prst="rect">
            <a:avLst/>
          </a:prstGeom>
          <a:solidFill>
            <a:srgbClr val="181C25"/>
          </a:solidFill>
          <a:ln w="12700">
            <a:solidFill>
              <a:srgbClr val="202835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663440" y="3712464"/>
            <a:ext cx="1097280" cy="475488"/>
          </a:xfrm>
          <a:prstGeom prst="rect">
            <a:avLst/>
          </a:prstGeom>
          <a:solidFill>
            <a:srgbClr val="181C25"/>
          </a:solidFill>
          <a:ln w="12700">
            <a:solidFill>
              <a:srgbClr val="202835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852160" y="3712464"/>
            <a:ext cx="3017520" cy="475488"/>
          </a:xfrm>
          <a:prstGeom prst="rect">
            <a:avLst/>
          </a:prstGeom>
          <a:solidFill>
            <a:srgbClr val="181C25"/>
          </a:solidFill>
          <a:ln w="12700">
            <a:solidFill>
              <a:srgbClr val="20283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74320" y="3712464"/>
            <a:ext cx="2377440" cy="47548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تغيير مفاجئ في اللوائح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2743200" y="3712464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D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منخفضة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4663440" y="3712464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متوسط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5852160" y="3712464"/>
            <a:ext cx="3017520" cy="47548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متابعة قانونية دورية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274320" y="4224528"/>
            <a:ext cx="2377440" cy="475488"/>
          </a:xfrm>
          <a:prstGeom prst="rect">
            <a:avLst/>
          </a:prstGeom>
          <a:solidFill>
            <a:srgbClr val="131820"/>
          </a:solidFill>
          <a:ln w="12700">
            <a:solidFill>
              <a:srgbClr val="202835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743200" y="4224528"/>
            <a:ext cx="1828800" cy="475488"/>
          </a:xfrm>
          <a:prstGeom prst="rect">
            <a:avLst/>
          </a:prstGeom>
          <a:solidFill>
            <a:srgbClr val="131820"/>
          </a:solidFill>
          <a:ln w="12700">
            <a:solidFill>
              <a:srgbClr val="202835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663440" y="4224528"/>
            <a:ext cx="1097280" cy="475488"/>
          </a:xfrm>
          <a:prstGeom prst="rect">
            <a:avLst/>
          </a:prstGeom>
          <a:solidFill>
            <a:srgbClr val="131820"/>
          </a:solidFill>
          <a:ln w="12700">
            <a:solidFill>
              <a:srgbClr val="202835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5852160" y="4224528"/>
            <a:ext cx="3017520" cy="475488"/>
          </a:xfrm>
          <a:prstGeom prst="rect">
            <a:avLst/>
          </a:prstGeom>
          <a:solidFill>
            <a:srgbClr val="131820"/>
          </a:solidFill>
          <a:ln w="12700">
            <a:solidFill>
              <a:srgbClr val="202835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74320" y="4224528"/>
            <a:ext cx="2377440" cy="47548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انسحاب السفارة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2743200" y="4224528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D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منخفضة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4663440" y="4224528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متوسط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5852160" y="4224528"/>
            <a:ext cx="3017520" cy="47548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لا تجعلها ركيزة أساسية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BB0"/>
                </a:solidFill>
              </a:rPr>
              <a:t>10 / 14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09728"/>
            <a:ext cx="2194560" cy="292608"/>
          </a:xfrm>
          <a:prstGeom prst="roundRect">
            <a:avLst>
              <a:gd name="adj" fmla="val 25000"/>
            </a:avLst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972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A0A"/>
                </a:solidFill>
              </a:rPr>
              <a:t>FINANCIAL MODEL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004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التوقعات المالية للفعاليات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228600" y="1234440"/>
            <a:ext cx="2743200" cy="3566160"/>
          </a:xfrm>
          <a:prstGeom prst="roundRect">
            <a:avLst>
              <a:gd name="adj" fmla="val 4667"/>
            </a:avLst>
          </a:prstGeom>
          <a:solidFill>
            <a:srgbClr val="181C25"/>
          </a:solidFill>
          <a:ln w="12700">
            <a:solidFill>
              <a:srgbClr val="D4A017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28600" y="1234440"/>
            <a:ext cx="2743200" cy="502920"/>
          </a:xfrm>
          <a:prstGeom prst="roundRect">
            <a:avLst>
              <a:gd name="adj" fmla="val 25455"/>
            </a:avLst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26187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فعالية السعودية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0040" y="18745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تكلفة الفعالية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20040" y="2157984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30,000 – 60,000 USD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0040" y="253288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عدد الحضور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20040" y="281635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 – 500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0040" y="319125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نسبة التحويل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20040" y="347472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– 10%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0040" y="384962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إيرادات متوقعة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20040" y="413308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0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500K – 2M USD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172968" y="1234440"/>
            <a:ext cx="2743200" cy="3566160"/>
          </a:xfrm>
          <a:prstGeom prst="roundRect">
            <a:avLst>
              <a:gd name="adj" fmla="val 4667"/>
            </a:avLst>
          </a:prstGeom>
          <a:solidFill>
            <a:srgbClr val="181C25"/>
          </a:solidFill>
          <a:ln w="12700">
            <a:solidFill>
              <a:srgbClr val="00D4B4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172968" y="1234440"/>
            <a:ext cx="2743200" cy="502920"/>
          </a:xfrm>
          <a:prstGeom prst="roundRect">
            <a:avLst>
              <a:gd name="adj" fmla="val 25455"/>
            </a:avLst>
          </a:prstGeom>
          <a:solidFill>
            <a:srgbClr val="00D4B4"/>
          </a:solidFill>
          <a:ln w="12700">
            <a:solidFill>
              <a:srgbClr val="00D4B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18688" y="126187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فعالية قطر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264408" y="18745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تكلفة الفعالية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264408" y="2157984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25,000 – 50,000 USD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264408" y="253288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عدد الحضور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264408" y="281635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150 – 350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264408" y="319125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نسبة التحويل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264408" y="347472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– 12%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264408" y="384962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إيرادات متوقعة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264408" y="413308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4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400K – 1.5M USD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117336" y="1234440"/>
            <a:ext cx="2743200" cy="3566160"/>
          </a:xfrm>
          <a:prstGeom prst="roundRect">
            <a:avLst>
              <a:gd name="adj" fmla="val 4667"/>
            </a:avLst>
          </a:prstGeom>
          <a:solidFill>
            <a:srgbClr val="181C25"/>
          </a:solidFill>
          <a:ln w="12700">
            <a:solidFill>
              <a:srgbClr val="E63946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17336" y="1234440"/>
            <a:ext cx="2743200" cy="502920"/>
          </a:xfrm>
          <a:prstGeom prst="roundRect">
            <a:avLst>
              <a:gd name="adj" fmla="val 25455"/>
            </a:avLst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63056" y="126187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فعالية عُمان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208776" y="18745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تكلفة الفعالية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208776" y="2157984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20,000 – 40,000 USD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208776" y="253288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عدد الحضور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208776" y="281635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 – 250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208776" y="319125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نسبة التحويل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208776" y="347472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– 8%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208776" y="384962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إيرادات متوقعة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208776" y="413308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200K – 800K USD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320040" y="466344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التوقعات تقديرية بناءً على نماذج فعاليات مشابهة — تتباين حسب الشركة والمشروع والتوقيت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BB0"/>
                </a:solidFill>
              </a:rPr>
              <a:t>11 / 14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11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09728"/>
            <a:ext cx="2194560" cy="292608"/>
          </a:xfrm>
          <a:prstGeom prst="roundRect">
            <a:avLst>
              <a:gd name="adj" fmla="val 25000"/>
            </a:avLst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972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A0A"/>
                </a:solidFill>
              </a:rPr>
              <a:t>WHY EUNOIA ZONES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004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لماذا Eunoia Zones Agency؟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274320" y="1298448"/>
            <a:ext cx="4160520" cy="1115568"/>
          </a:xfrm>
          <a:prstGeom prst="roundRect">
            <a:avLst>
              <a:gd name="adj" fmla="val 8197"/>
            </a:avLst>
          </a:prstGeom>
          <a:solidFill>
            <a:srgbClr val="181C25"/>
          </a:solidFill>
          <a:ln w="12700">
            <a:solidFill>
              <a:srgbClr val="D4A017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38912" y="1389888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4A0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🏗️  خبرة 13+ سنة في HR والقطاع المؤسسي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38912" y="1819656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قطاعات: ضيافة، FMCG، زراعة — فهم عميق لسلوك المستثمر الخليجي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09160" y="1298448"/>
            <a:ext cx="4160520" cy="1115568"/>
          </a:xfrm>
          <a:prstGeom prst="roundRect">
            <a:avLst>
              <a:gd name="adj" fmla="val 8197"/>
            </a:avLst>
          </a:prstGeom>
          <a:solidFill>
            <a:srgbClr val="181C25"/>
          </a:solidFill>
          <a:ln w="12700">
            <a:solidFill>
              <a:srgbClr val="00D4B4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73752" y="1389888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0D4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🤖  أتمتة AI ومنظومة تسويق رقمي متكاملة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73752" y="1819656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+ ElevenLabs + Higgsfield + Buffer — إنتاج محتوى تلقائي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2578608"/>
            <a:ext cx="4160520" cy="1115568"/>
          </a:xfrm>
          <a:prstGeom prst="roundRect">
            <a:avLst>
              <a:gd name="adj" fmla="val 8197"/>
            </a:avLst>
          </a:prstGeom>
          <a:solidFill>
            <a:srgbClr val="181C25"/>
          </a:solidFill>
          <a:ln w="12700">
            <a:solidFill>
              <a:srgbClr val="D4A017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38912" y="2670048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4A0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🛒  بنية تجارية قائمة — BahgaShop + Workshop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38912" y="3099816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قدرة تنفيذ متعددة القطاعات — تسويق + إنتاج + مبيعات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09160" y="2578608"/>
            <a:ext cx="4160520" cy="1115568"/>
          </a:xfrm>
          <a:prstGeom prst="roundRect">
            <a:avLst>
              <a:gd name="adj" fmla="val 8197"/>
            </a:avLst>
          </a:prstGeom>
          <a:solidFill>
            <a:srgbClr val="181C25"/>
          </a:solidFill>
          <a:ln w="12700">
            <a:solidFill>
              <a:srgbClr val="00D4B4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73752" y="2670048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0D4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🌍  تشغيل مصر ودبي — وصول خليجي مباشر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73752" y="3099816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شبكة علاقات في مصر والإمارات تُسرّع الوصول للسوق الخليجي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3858768"/>
            <a:ext cx="4160520" cy="1115568"/>
          </a:xfrm>
          <a:prstGeom prst="roundRect">
            <a:avLst>
              <a:gd name="adj" fmla="val 8197"/>
            </a:avLst>
          </a:prstGeom>
          <a:solidFill>
            <a:srgbClr val="181C25"/>
          </a:solidFill>
          <a:ln w="12700">
            <a:solidFill>
              <a:srgbClr val="D4A017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3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8912" y="3950208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4A0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📊  استراتيجية مبنية على بيانات وأبحاث حقيقية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8912" y="4379976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تحليل قانوني محدّث 2025-2026 لكل دولة — لا افتراضات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09160" y="3858768"/>
            <a:ext cx="4160520" cy="1115568"/>
          </a:xfrm>
          <a:prstGeom prst="roundRect">
            <a:avLst>
              <a:gd name="adj" fmla="val 8197"/>
            </a:avLst>
          </a:prstGeom>
          <a:solidFill>
            <a:srgbClr val="181C25"/>
          </a:solidFill>
          <a:ln w="12700">
            <a:solidFill>
              <a:srgbClr val="00D4B4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3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873752" y="3950208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0D4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🎯  تركيز على العاصمة الإدارية الجديدة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73752" y="4379976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أحد أكبر مشروعات التطوير في أفريقيا والشرق الأوسط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BB0"/>
                </a:solidFill>
              </a:rPr>
              <a:t>12 / 14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70848" y="0"/>
            <a:ext cx="73152" cy="51435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D4A0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الخطوة التالية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1371600" y="1371600"/>
            <a:ext cx="6400800" cy="2926080"/>
          </a:xfrm>
          <a:prstGeom prst="roundRect">
            <a:avLst>
              <a:gd name="adj" fmla="val 5625"/>
            </a:avLst>
          </a:prstGeom>
          <a:solidFill>
            <a:srgbClr val="181C25"/>
          </a:solidFill>
          <a:ln w="12700">
            <a:solidFill>
              <a:srgbClr val="D4A017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645920" y="1508760"/>
            <a:ext cx="5852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التواصل مع منظمي Hazi Misr Prime ← هذا الأسبوع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645920" y="2011680"/>
            <a:ext cx="5852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توكيل محامٍ محلي في الرياض والدوحة ← خلال 2 أسبوع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645920" y="2514600"/>
            <a:ext cx="5852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إرسال طلب رسمي للسفارة المصرية في الرياض ← خلال 3 أسابيع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645920" y="3017520"/>
            <a:ext cx="5852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مراجعة وتحديث كل المواد التسويقية ← قبل الحدث بشهر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645920" y="3520440"/>
            <a:ext cx="5852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إطلاق الحملة الرقمية للجالية المصرية ← مستمر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44805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جاهزون للبدء — الفرصة هنا والآن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BB0"/>
                </a:solidFill>
              </a:rPr>
              <a:t>13 / 14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11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09728"/>
            <a:ext cx="2194560" cy="292608"/>
          </a:xfrm>
          <a:prstGeom prst="roundRect">
            <a:avLst>
              <a:gd name="adj" fmla="val 25000"/>
            </a:avLst>
          </a:prstGeom>
          <a:solidFill>
            <a:srgbClr val="8A9BB0"/>
          </a:solidFill>
          <a:ln w="12700">
            <a:solidFill>
              <a:srgbClr val="8A9BB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972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SOURCES &amp; REFERENCES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004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المصادر والمراجع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74320" y="1225296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0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58368" y="11887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0F0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Saudi Arabia — Law of Real Estate Ownership by Non-Saudis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58368" y="150876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Council of Ministers Resolution M/14, July 14, 2025 | Umm Al-Qura Gazette, July 25, 2025 | Effective January 21, 2026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274320" y="1975104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0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58368" y="193852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0F0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Saudi Real Estate General Authority (REGA) — FAL Platform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58368" y="225856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rega.gov.sa | Platform for real estate brokerage licensing and advertising permits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274320" y="2724912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0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58368" y="2688336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0F0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Greenberg Traurig LLP — Saudi Arabia New Real Estate Foreign Ownership Law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58368" y="300837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gtlaw.com/insights/2025/7 | August 1, 2025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274320" y="3474720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4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58368" y="343814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0F0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Qatar Real Estate Forum &amp; Cityscape Qatar 2025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58368" y="375818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Aqarat (Qatar Real Estate Regulatory Authority) | qreforum.aqarat.gov.qa | October 12-14, 2025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74320" y="4224528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58368" y="418795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0F0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Oman Royal Decree 79/2025 — Law Regulating Real Estate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58368" y="450799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decree.om/2025/rd20250079 | September 10, 2025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754880" y="1225296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8C6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138928" y="11887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0F0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Hazi Misr Prime — Egyptian Real Estate Exhibition KSA &amp; Qatar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138928" y="150876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hazimisrksa.com | hazimisr.com | 28th–30th editions 2024–2025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754880" y="1975104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8C6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138928" y="193852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0F0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Nile Property Expo — Tour 2026 (Doha, Riyadh, Jeddah, Dubai)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138928" y="225856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nilepropertyexpo.com | Under patronage of Egypt Prime Minister Mostafa Madbouly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754880" y="2724912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8C6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138928" y="2688336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0F0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Egypt Builders Real Estate Expo — Abu Dhabi October 2025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138928" y="300837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zawya.com | October 13, 2025 | 18 Egyptian developers, opened by Egyptian Ambassador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754880" y="3474720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8C6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138928" y="343814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0F0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Cityscape Global Saudi Arabia — Tahaluf / Ministry of Housing KSA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138928" y="375818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cityscapeglobal.com | $29B+ deals recorded at 2023 inaugural edition | November 16-19, 2026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754880" y="4224528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8C6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138928" y="418795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0F0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Oman Real Estate Expo (OREX) — May 2026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138928" y="450799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omandesignandbuildweek.com | Oman Convention &amp; Exhibition Centre | 299 exhibitors, 10,800 visitors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320040" y="475488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Eunoia Zones Agency  ·  بيانات محدّثة يونيو 2026  ·  للاستفسار: eunoia-zones.com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BB0"/>
                </a:solidFill>
              </a:rPr>
              <a:t>14 / 14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Egyptian Real Estate Investment in Gulf Markets</dc:title>
  <dc:subject>PptxGenJS Presentation</dc:subject>
  <dc:creator>Eunoia Zones Agency</dc:creator>
  <cp:lastModifiedBy>Eunoia Zones Agency</cp:lastModifiedBy>
  <cp:revision>1</cp:revision>
  <dcterms:created xsi:type="dcterms:W3CDTF">2026-06-11T15:03:17Z</dcterms:created>
  <dcterms:modified xsi:type="dcterms:W3CDTF">2026-06-11T15:03:17Z</dcterms:modified>
</cp:coreProperties>
</file>